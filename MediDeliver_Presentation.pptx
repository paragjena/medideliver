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8498839-9a1f-fdca-4196-10797564e08c}">
          <p14:sldIdLst>
            <p14:sldId id="256"/>
            <p14:sldId id="257"/>
            <p14:sldId id="258"/>
          </p14:sldIdLst>
        </p14:section>
        <p14:section name="Design" id="{b2f59505-4861-3695-7e28-eb7db0b713ff}">
          <p14:sldIdLst>
            <p14:sldId id="259"/>
            <p14:sldId id="260"/>
            <p14:sldId id="261"/>
            <p14:sldId id="262"/>
          </p14:sldIdLst>
        </p14:section>
        <p14:section name="Implementation" id="{ed980080-fa1b-e1d4-be29-3929194a1de5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Wrap-up" id="{27ca0b81-6dd0-7e0e-9db6-a91fa5df9a03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53035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468880"/>
            <a:ext cx="53035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8FD6CF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0B3C49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F78"/>
                </a:solidFill>
              </a:rPr>
              <a:t>MediDeliver  |  Wipro Corporate Training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MediDeliver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468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FD6CF"/>
                </a:solidFill>
              </a:rPr>
              <a:t>Medicine Delivery Management System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DE0"/>
                </a:solidFill>
              </a:rPr>
              <a:t>Linux-based C++ capstone project with file-based persistence and a Linux kernel module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640080" y="402336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0233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Project Presentation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40233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DE0"/>
                </a:solidFill>
              </a:rPr>
              <a:t>Wipro Corporate Training</a:t>
            </a:r>
            <a:endParaRPr lang="en-US" sz="1400" dirty="0"/>
          </a:p>
        </p:txBody>
      </p:sp>
      <p:sp>
        <p:nvSpPr>
          <p:cNvPr id="8" name="Hero circle"/>
          <p:cNvSpPr/>
          <p:nvPr/>
        </p:nvSpPr>
        <p:spPr>
          <a:xfrm>
            <a:off x="6309360" y="822960"/>
            <a:ext cx="2651760" cy="265176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9" name="Accent circle"/>
          <p:cNvSpPr/>
          <p:nvPr/>
        </p:nvSpPr>
        <p:spPr>
          <a:xfrm>
            <a:off x="5943600" y="3108960"/>
            <a:ext cx="1005840" cy="100584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10" name="Accent circle"/>
          <p:cNvSpPr/>
          <p:nvPr/>
        </p:nvSpPr>
        <p:spPr>
          <a:xfrm>
            <a:off x="7863840" y="3566160"/>
            <a:ext cx="640080" cy="640080"/>
          </a:xfrm>
          <a:prstGeom prst="ellipse">
            <a:avLst/>
          </a:prstGeom>
          <a:solidFill>
            <a:srgbClr val="14586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417320"/>
            <a:ext cx="1463040" cy="146304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3375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</a:rPr>
              <a:t>Project Overview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badge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Overview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B34"/>
                </a:solidFill>
              </a:rPr>
              <a:t>MediDeliver is a console-based Medicine Delivery Management System developed in C++ and implemented on Linux.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It manages the complete flow from customer and medicine selection through cart, payment, order processing, delivery assignment and completion.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badge"/>
          <p:cNvSpPr/>
          <p:nvPr/>
        </p:nvSpPr>
        <p:spPr>
          <a:xfrm>
            <a:off x="4937760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5270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Core Features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0574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Customer selection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Medicine inventory and search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Shopping cart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Order processing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Payment simulation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Delivery queue and records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File-based persistence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Linux kernel module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0B3C49"/>
          </a:solidFill>
          <a:ln w="9525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badge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F28C2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A medicine delivery system must coordinate several independent operations while keeping order information consistent.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The project also demonstrates Linux development, structured C++ programming, data structures, persistence and driver-level concepts.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badge"/>
          <p:cNvSpPr/>
          <p:nvPr/>
        </p:nvSpPr>
        <p:spPr>
          <a:xfrm>
            <a:off x="4937760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5270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0574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Build a modular C++ application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Apply object-oriented design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Use STL containers and algorithms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Handle invalid input with exceptions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Persist application records in files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Build and run the project on Linux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Include a Linux kernel module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badge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270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C++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Core application language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2560320" y="123444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badge"/>
          <p:cNvSpPr/>
          <p:nvPr/>
        </p:nvSpPr>
        <p:spPr>
          <a:xfrm>
            <a:off x="2788920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15270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8892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Linux / Ubuntu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78892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Development and execution platform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663440" y="123444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 badge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152704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9204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STL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8920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vector, queue, iterators, algorithms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766560" y="123444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 badge"/>
          <p:cNvSpPr/>
          <p:nvPr/>
        </p:nvSpPr>
        <p:spPr>
          <a:xfrm>
            <a:off x="6995160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15270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9516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File Handling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99516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Text-file persistence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457200" y="3017520"/>
            <a:ext cx="26243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con badge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31012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85800" y="374904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Make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685800" y="406908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Build automation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3259836" y="3017520"/>
            <a:ext cx="26243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con badge"/>
          <p:cNvSpPr/>
          <p:nvPr/>
        </p:nvSpPr>
        <p:spPr>
          <a:xfrm>
            <a:off x="3488436" y="320040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8164" y="331012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488436" y="374904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Bash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3488436" y="406908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Deployment/build script</a:t>
            </a:r>
            <a:endParaRPr lang="en-US" sz="1200" dirty="0"/>
          </a:p>
        </p:txBody>
      </p:sp>
      <p:sp>
        <p:nvSpPr>
          <p:cNvPr id="33" name="Card"/>
          <p:cNvSpPr/>
          <p:nvPr/>
        </p:nvSpPr>
        <p:spPr>
          <a:xfrm>
            <a:off x="6062472" y="3017520"/>
            <a:ext cx="26243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Icon badge"/>
          <p:cNvSpPr/>
          <p:nvPr/>
        </p:nvSpPr>
        <p:spPr>
          <a:xfrm>
            <a:off x="6291072" y="320040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310128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291072" y="374904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Git + GitHub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6291072" y="406908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Version control and submission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Flow box"/>
          <p:cNvSpPr/>
          <p:nvPr/>
        </p:nvSpPr>
        <p:spPr>
          <a:xfrm>
            <a:off x="457200" y="13716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0F8B8D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Customer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1783080"/>
            <a:ext cx="342900" cy="0"/>
          </a:xfrm>
          <a:prstGeom prst="line">
            <a:avLst/>
          </a:prstGeom>
          <a:noFill/>
          <a:ln w="25400">
            <a:solidFill>
              <a:srgbClr val="0B3C49"/>
            </a:solidFill>
            <a:prstDash val="solid"/>
            <a:tailEnd type="triangle"/>
          </a:ln>
        </p:spPr>
      </p:sp>
      <p:sp>
        <p:nvSpPr>
          <p:cNvPr id="6" name="Flow box"/>
          <p:cNvSpPr/>
          <p:nvPr/>
        </p:nvSpPr>
        <p:spPr>
          <a:xfrm>
            <a:off x="2171700" y="13716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0F8B8D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17170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Pharmacy / Medicine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43300" y="1783080"/>
            <a:ext cx="342900" cy="0"/>
          </a:xfrm>
          <a:prstGeom prst="line">
            <a:avLst/>
          </a:prstGeom>
          <a:noFill/>
          <a:ln w="25400">
            <a:solidFill>
              <a:srgbClr val="0B3C49"/>
            </a:solidFill>
            <a:prstDash val="solid"/>
            <a:tailEnd type="triangle"/>
          </a:ln>
        </p:spPr>
      </p:sp>
      <p:sp>
        <p:nvSpPr>
          <p:cNvPr id="9" name="Flow box"/>
          <p:cNvSpPr/>
          <p:nvPr/>
        </p:nvSpPr>
        <p:spPr>
          <a:xfrm>
            <a:off x="3886200" y="13716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0F8B8D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88620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Cart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257800" y="1783080"/>
            <a:ext cx="342900" cy="0"/>
          </a:xfrm>
          <a:prstGeom prst="line">
            <a:avLst/>
          </a:prstGeom>
          <a:noFill/>
          <a:ln w="25400">
            <a:solidFill>
              <a:srgbClr val="0B3C49"/>
            </a:solidFill>
            <a:prstDash val="solid"/>
            <a:tailEnd type="triangle"/>
          </a:ln>
        </p:spPr>
      </p:sp>
      <p:sp>
        <p:nvSpPr>
          <p:cNvPr id="12" name="Flow box"/>
          <p:cNvSpPr/>
          <p:nvPr/>
        </p:nvSpPr>
        <p:spPr>
          <a:xfrm>
            <a:off x="5600700" y="13716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0F8B8D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60070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Order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72300" y="1783080"/>
            <a:ext cx="342900" cy="0"/>
          </a:xfrm>
          <a:prstGeom prst="line">
            <a:avLst/>
          </a:prstGeom>
          <a:noFill/>
          <a:ln w="25400">
            <a:solidFill>
              <a:srgbClr val="0B3C49"/>
            </a:solidFill>
            <a:prstDash val="solid"/>
            <a:tailEnd type="triangle"/>
          </a:ln>
        </p:spPr>
      </p:sp>
      <p:sp>
        <p:nvSpPr>
          <p:cNvPr id="15" name="Flow box"/>
          <p:cNvSpPr/>
          <p:nvPr/>
        </p:nvSpPr>
        <p:spPr>
          <a:xfrm>
            <a:off x="7315200" y="13716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0F8B8D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Payment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86500" y="2194560"/>
            <a:ext cx="0" cy="914400"/>
          </a:xfrm>
          <a:prstGeom prst="line">
            <a:avLst/>
          </a:prstGeom>
          <a:noFill/>
          <a:ln w="25400">
            <a:solidFill>
              <a:srgbClr val="0B3C49"/>
            </a:solidFill>
            <a:prstDash val="solid"/>
            <a:tailEnd type="triangle"/>
          </a:ln>
        </p:spPr>
      </p:sp>
      <p:sp>
        <p:nvSpPr>
          <p:cNvPr id="18" name="Flow box"/>
          <p:cNvSpPr/>
          <p:nvPr/>
        </p:nvSpPr>
        <p:spPr>
          <a:xfrm>
            <a:off x="5600700" y="310896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600700" y="3108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Delivery Queue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 flipH="1">
            <a:off x="5257800" y="3520440"/>
            <a:ext cx="342900" cy="0"/>
          </a:xfrm>
          <a:prstGeom prst="line">
            <a:avLst/>
          </a:prstGeom>
          <a:noFill/>
          <a:ln w="25400">
            <a:solidFill>
              <a:srgbClr val="0B3C49"/>
            </a:solidFill>
            <a:prstDash val="solid"/>
            <a:tailEnd type="triangle"/>
          </a:ln>
        </p:spPr>
      </p:sp>
      <p:sp>
        <p:nvSpPr>
          <p:cNvPr id="21" name="Flow box"/>
          <p:cNvSpPr/>
          <p:nvPr/>
        </p:nvSpPr>
        <p:spPr>
          <a:xfrm>
            <a:off x="3886200" y="310896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28C28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886200" y="3108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Delivery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 flipH="1">
            <a:off x="3543300" y="3520440"/>
            <a:ext cx="342900" cy="0"/>
          </a:xfrm>
          <a:prstGeom prst="line">
            <a:avLst/>
          </a:prstGeom>
          <a:noFill/>
          <a:ln w="25400">
            <a:solidFill>
              <a:srgbClr val="0B3C49"/>
            </a:solidFill>
            <a:prstDash val="solid"/>
            <a:tailEnd type="triangle"/>
          </a:ln>
        </p:spPr>
      </p:sp>
      <p:sp>
        <p:nvSpPr>
          <p:cNvPr id="24" name="Flow box"/>
          <p:cNvSpPr/>
          <p:nvPr/>
        </p:nvSpPr>
        <p:spPr>
          <a:xfrm>
            <a:off x="2171700" y="310896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2E5E8C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2171700" y="31089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File Storage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F78"/>
                </a:solidFill>
              </a:rPr>
              <a:t>High-level software architecture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</a:rPr>
              <a:t>Project Folder Structure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0B3C49"/>
          </a:solidFill>
          <a:ln w="9525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Folders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D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include/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   Header files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FD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   C++ source files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FD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driver/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   Linux kernel module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FD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   Persistent records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FD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   Build output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FD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backups/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   Local backup area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663440" y="118872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0B3C49"/>
          </a:solidFill>
          <a:ln w="9525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Root Files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D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Makefile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   Main build automation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FD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deploy.sh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   Deployment helper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FD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   Documentation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FD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   Excludes generated files</a:t>
            </a:r>
            <a:endParaRPr lang="en-US" sz="1400" dirty="0"/>
          </a:p>
        </p:txBody>
      </p:sp>
      <p:sp>
        <p:nvSpPr>
          <p:cNvPr id="9" name="Note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DDF1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9319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Separating headers, implementation, driver and data keeps the project modular.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</a:rPr>
              <a:t>Software Modules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badge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1378915"/>
            <a:ext cx="213970" cy="2139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64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Medicine &amp; Pharmacy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574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Records, inventory, search and stock reduction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2560320" y="114300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badge"/>
          <p:cNvSpPr/>
          <p:nvPr/>
        </p:nvSpPr>
        <p:spPr>
          <a:xfrm>
            <a:off x="2743200" y="1280160"/>
            <a:ext cx="411480" cy="41148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955" y="1378915"/>
            <a:ext cx="213970" cy="21397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43200" y="1764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Customer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20574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Identity, contact and address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663440" y="114300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 badge"/>
          <p:cNvSpPr/>
          <p:nvPr/>
        </p:nvSpPr>
        <p:spPr>
          <a:xfrm>
            <a:off x="4846320" y="1280160"/>
            <a:ext cx="411480" cy="41148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075" y="1378915"/>
            <a:ext cx="213970" cy="21397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46320" y="1764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Cart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20574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Add/remove items, quantity validation, totals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766560" y="114300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 badge"/>
          <p:cNvSpPr/>
          <p:nvPr/>
        </p:nvSpPr>
        <p:spPr>
          <a:xfrm>
            <a:off x="6949440" y="1280160"/>
            <a:ext cx="411480" cy="41148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195" y="1378915"/>
            <a:ext cx="213970" cy="21397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49440" y="1764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Order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20574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Customer order, items, amount and status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457200" y="292608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con badge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161995"/>
            <a:ext cx="213970" cy="21397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40080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Payment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3840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Method, amount and payment status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2560320" y="292608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con badge"/>
          <p:cNvSpPr/>
          <p:nvPr/>
        </p:nvSpPr>
        <p:spPr>
          <a:xfrm>
            <a:off x="2743200" y="3063240"/>
            <a:ext cx="411480" cy="41148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1955" y="3161995"/>
            <a:ext cx="213970" cy="21397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743200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Delivery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2743200" y="3840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Agent assignment, address and status</a:t>
            </a:r>
            <a:endParaRPr lang="en-US" sz="1200" dirty="0"/>
          </a:p>
        </p:txBody>
      </p:sp>
      <p:sp>
        <p:nvSpPr>
          <p:cNvPr id="33" name="Card"/>
          <p:cNvSpPr/>
          <p:nvPr/>
        </p:nvSpPr>
        <p:spPr>
          <a:xfrm>
            <a:off x="4663440" y="292608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Icon badge"/>
          <p:cNvSpPr/>
          <p:nvPr/>
        </p:nvSpPr>
        <p:spPr>
          <a:xfrm>
            <a:off x="4846320" y="3063240"/>
            <a:ext cx="411480" cy="411480"/>
          </a:xfrm>
          <a:prstGeom prst="ellipse">
            <a:avLst/>
          </a:prstGeom>
          <a:solidFill>
            <a:srgbClr val="F28C28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5075" y="3161995"/>
            <a:ext cx="213970" cy="21397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846320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DeliveryQueue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4846320" y="3840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FIFO order processing using std::queue</a:t>
            </a:r>
            <a:endParaRPr lang="en-US" sz="1200" dirty="0"/>
          </a:p>
        </p:txBody>
      </p:sp>
      <p:sp>
        <p:nvSpPr>
          <p:cNvPr id="38" name="Card"/>
          <p:cNvSpPr/>
          <p:nvPr/>
        </p:nvSpPr>
        <p:spPr>
          <a:xfrm>
            <a:off x="6766560" y="292608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Icon badge"/>
          <p:cNvSpPr/>
          <p:nvPr/>
        </p:nvSpPr>
        <p:spPr>
          <a:xfrm>
            <a:off x="6949440" y="3063240"/>
            <a:ext cx="411480" cy="41148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195" y="3161995"/>
            <a:ext cx="213970" cy="21397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949440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FileManager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6949440" y="3840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Initialization, save/load and ID generation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</a:rPr>
              <a:t>Medicine &amp; Customer Management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badge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Medicine / Pharmacy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11680"/>
            <a:ext cx="3474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B34"/>
                </a:solidFill>
              </a:rPr>
              <a:t>Medicine stores ID, name, category, price and stock.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B34"/>
                </a:solidFill>
              </a:rPr>
              <a:t>Pharmacy provides: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Add medicine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Display medicines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Search by ID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Reduce stock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Sort medicines by price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badge"/>
          <p:cNvSpPr/>
          <p:nvPr/>
        </p:nvSpPr>
        <p:spPr>
          <a:xfrm>
            <a:off x="4937760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5270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Customer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0116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B34"/>
                </a:solidFill>
              </a:rPr>
              <a:t>Customer stores: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Customer ID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Name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Phone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Address</a:t>
            </a:r>
            <a:endParaRPr lang="en-US" sz="1400" dirty="0"/>
          </a:p>
        </p:txBody>
      </p:sp>
      <p:sp>
        <p:nvSpPr>
          <p:cNvPr id="13" name="Callout"/>
          <p:cNvSpPr/>
          <p:nvPr/>
        </p:nvSpPr>
        <p:spPr>
          <a:xfrm>
            <a:off x="4937760" y="342900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DDF1EE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7492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3C49"/>
                </a:solidFill>
              </a:rPr>
              <a:t>The selected customer becomes the owner of the order during order placement.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</a:rPr>
              <a:t>Cart &amp; Order Management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badge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Cart Management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11680"/>
            <a:ext cx="3474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B34"/>
                </a:solidFill>
              </a:rPr>
              <a:t>Cart uses a vector of CartItem records.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B34"/>
                </a:solidFill>
              </a:rPr>
              <a:t>Operations: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Add medicine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Remove medicine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Display cart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Calculate total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Validate quantity against stock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Clear cart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badge"/>
          <p:cNvSpPr/>
          <p:nvPr/>
        </p:nvSpPr>
        <p:spPr>
          <a:xfrm>
            <a:off x="4937760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5270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Order Management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1965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Order contains customer information, cart items, total amount and status.</a:t>
            </a:r>
            <a:endParaRPr lang="en-US" sz="1400" dirty="0"/>
          </a:p>
        </p:txBody>
      </p:sp>
      <p:sp>
        <p:nvSpPr>
          <p:cNvPr id="13" name="Chip"/>
          <p:cNvSpPr/>
          <p:nvPr/>
        </p:nvSpPr>
        <p:spPr>
          <a:xfrm>
            <a:off x="4937760" y="2560320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DDF1EE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937760" y="25603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1  Placed</a:t>
            </a:r>
            <a:endParaRPr lang="en-US" sz="1300" dirty="0"/>
          </a:p>
        </p:txBody>
      </p:sp>
      <p:sp>
        <p:nvSpPr>
          <p:cNvPr id="15" name="Chip"/>
          <p:cNvSpPr/>
          <p:nvPr/>
        </p:nvSpPr>
        <p:spPr>
          <a:xfrm>
            <a:off x="4937760" y="2944368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DDF1EE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937760" y="29443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2  Confirmed</a:t>
            </a:r>
            <a:endParaRPr lang="en-US" sz="1300" dirty="0"/>
          </a:p>
        </p:txBody>
      </p:sp>
      <p:sp>
        <p:nvSpPr>
          <p:cNvPr id="17" name="Chip"/>
          <p:cNvSpPr/>
          <p:nvPr/>
        </p:nvSpPr>
        <p:spPr>
          <a:xfrm>
            <a:off x="4937760" y="3328416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DDF1EE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937760" y="33284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3  Out For Delivery</a:t>
            </a:r>
            <a:endParaRPr lang="en-US" sz="1300" dirty="0"/>
          </a:p>
        </p:txBody>
      </p:sp>
      <p:sp>
        <p:nvSpPr>
          <p:cNvPr id="19" name="Chip"/>
          <p:cNvSpPr/>
          <p:nvPr/>
        </p:nvSpPr>
        <p:spPr>
          <a:xfrm>
            <a:off x="4937760" y="3712464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DDF1EE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937760" y="37124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4  Delivered</a:t>
            </a:r>
            <a:endParaRPr lang="en-US" sz="1300" dirty="0"/>
          </a:p>
        </p:txBody>
      </p:sp>
      <p:sp>
        <p:nvSpPr>
          <p:cNvPr id="21" name="Chip"/>
          <p:cNvSpPr/>
          <p:nvPr/>
        </p:nvSpPr>
        <p:spPr>
          <a:xfrm>
            <a:off x="4937760" y="4096512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F6D5DA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937760" y="40965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17780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2335"/>
                </a:solidFill>
              </a:rPr>
              <a:t>5  Cancelled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</a:rPr>
              <a:t>Payment &amp; Delivery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badge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Payment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F78"/>
                </a:solidFill>
              </a:rPr>
              <a:t>Record fields</a:t>
            </a:r>
            <a:endParaRPr lang="en-US" sz="1400" dirty="0"/>
          </a:p>
        </p:txBody>
      </p:sp>
      <p:sp>
        <p:nvSpPr>
          <p:cNvPr id="8" name="Chip"/>
          <p:cNvSpPr/>
          <p:nvPr/>
        </p:nvSpPr>
        <p:spPr>
          <a:xfrm>
            <a:off x="731520" y="237744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DF1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3774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Payment ID</a:t>
            </a:r>
            <a:endParaRPr lang="en-US" sz="1300" dirty="0"/>
          </a:p>
        </p:txBody>
      </p:sp>
      <p:sp>
        <p:nvSpPr>
          <p:cNvPr id="10" name="Chip"/>
          <p:cNvSpPr/>
          <p:nvPr/>
        </p:nvSpPr>
        <p:spPr>
          <a:xfrm>
            <a:off x="1943100" y="237744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DF1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3100" y="23774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Order ID</a:t>
            </a:r>
            <a:endParaRPr lang="en-US" sz="1300" dirty="0"/>
          </a:p>
        </p:txBody>
      </p:sp>
      <p:sp>
        <p:nvSpPr>
          <p:cNvPr id="12" name="Chip"/>
          <p:cNvSpPr/>
          <p:nvPr/>
        </p:nvSpPr>
        <p:spPr>
          <a:xfrm>
            <a:off x="3154680" y="237744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DF1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54680" y="23774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Amount</a:t>
            </a:r>
            <a:endParaRPr lang="en-US" sz="1300" dirty="0"/>
          </a:p>
        </p:txBody>
      </p:sp>
      <p:sp>
        <p:nvSpPr>
          <p:cNvPr id="14" name="Chip"/>
          <p:cNvSpPr/>
          <p:nvPr/>
        </p:nvSpPr>
        <p:spPr>
          <a:xfrm>
            <a:off x="731520" y="283464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DF1E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28346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Method</a:t>
            </a:r>
            <a:endParaRPr lang="en-US" sz="1300" dirty="0"/>
          </a:p>
        </p:txBody>
      </p:sp>
      <p:sp>
        <p:nvSpPr>
          <p:cNvPr id="16" name="Chip"/>
          <p:cNvSpPr/>
          <p:nvPr/>
        </p:nvSpPr>
        <p:spPr>
          <a:xfrm>
            <a:off x="1943100" y="283464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DF1E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943100" y="28346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Status</a:t>
            </a:r>
            <a:endParaRPr lang="en-US" sz="1300" dirty="0"/>
          </a:p>
        </p:txBody>
      </p:sp>
      <p:sp>
        <p:nvSpPr>
          <p:cNvPr id="18" name="Callout"/>
          <p:cNvSpPr/>
          <p:nvPr/>
        </p:nvSpPr>
        <p:spPr>
          <a:xfrm>
            <a:off x="731520" y="338328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DDF1E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6868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3C49"/>
                </a:solidFill>
              </a:rPr>
              <a:t>Payment is simulated: a valid positive amount is marked successful.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Icon badge"/>
          <p:cNvSpPr/>
          <p:nvPr/>
        </p:nvSpPr>
        <p:spPr>
          <a:xfrm>
            <a:off x="4937760" y="1417320"/>
            <a:ext cx="457200" cy="457200"/>
          </a:xfrm>
          <a:prstGeom prst="ellipse">
            <a:avLst/>
          </a:prstGeom>
          <a:solidFill>
            <a:srgbClr val="F28C28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527048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53212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Delivery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493776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F78"/>
                </a:solidFill>
              </a:rPr>
              <a:t>Record fields</a:t>
            </a:r>
            <a:endParaRPr lang="en-US" sz="1400" dirty="0"/>
          </a:p>
        </p:txBody>
      </p:sp>
      <p:sp>
        <p:nvSpPr>
          <p:cNvPr id="25" name="Chip"/>
          <p:cNvSpPr/>
          <p:nvPr/>
        </p:nvSpPr>
        <p:spPr>
          <a:xfrm>
            <a:off x="4937760" y="237744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DF1EE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937760" y="23774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Delivery ID</a:t>
            </a:r>
            <a:endParaRPr lang="en-US" sz="1300" dirty="0"/>
          </a:p>
        </p:txBody>
      </p:sp>
      <p:sp>
        <p:nvSpPr>
          <p:cNvPr id="27" name="Chip"/>
          <p:cNvSpPr/>
          <p:nvPr/>
        </p:nvSpPr>
        <p:spPr>
          <a:xfrm>
            <a:off x="6149340" y="237744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DF1EE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149340" y="23774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Order ID</a:t>
            </a:r>
            <a:endParaRPr lang="en-US" sz="1300" dirty="0"/>
          </a:p>
        </p:txBody>
      </p:sp>
      <p:sp>
        <p:nvSpPr>
          <p:cNvPr id="29" name="Chip"/>
          <p:cNvSpPr/>
          <p:nvPr/>
        </p:nvSpPr>
        <p:spPr>
          <a:xfrm>
            <a:off x="7360920" y="237744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DF1EE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7360920" y="23774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Address</a:t>
            </a:r>
            <a:endParaRPr lang="en-US" sz="1300" dirty="0"/>
          </a:p>
        </p:txBody>
      </p:sp>
      <p:sp>
        <p:nvSpPr>
          <p:cNvPr id="31" name="Chip"/>
          <p:cNvSpPr/>
          <p:nvPr/>
        </p:nvSpPr>
        <p:spPr>
          <a:xfrm>
            <a:off x="4937760" y="283464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DF1EE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4937760" y="28346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Agent</a:t>
            </a:r>
            <a:endParaRPr lang="en-US" sz="1300" dirty="0"/>
          </a:p>
        </p:txBody>
      </p:sp>
      <p:sp>
        <p:nvSpPr>
          <p:cNvPr id="33" name="Chip"/>
          <p:cNvSpPr/>
          <p:nvPr/>
        </p:nvSpPr>
        <p:spPr>
          <a:xfrm>
            <a:off x="6149340" y="283464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DDF1EE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6149340" y="28346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Status</a:t>
            </a:r>
            <a:endParaRPr lang="en-US" sz="1300" dirty="0"/>
          </a:p>
        </p:txBody>
      </p:sp>
      <p:sp>
        <p:nvSpPr>
          <p:cNvPr id="35" name="Callout"/>
          <p:cNvSpPr/>
          <p:nvPr/>
        </p:nvSpPr>
        <p:spPr>
          <a:xfrm>
            <a:off x="4937760" y="338328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DECD8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507492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3C49"/>
                </a:solidFill>
              </a:rPr>
              <a:t>DeliveryQueue uses FIFO processing, so the earliest queued order is processed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</a:rPr>
              <a:t>STL &amp; Data Structures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24328" cy="333756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badge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std::vector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5146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B34"/>
                </a:solidFill>
              </a:rPr>
              <a:t>Used for collections such as medicines, cart items and loaded records.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B34"/>
                </a:solidFill>
              </a:rPr>
              <a:t>Supports dynamic storage and iterator-based traversal.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59836" y="1188720"/>
            <a:ext cx="2624328" cy="333756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badge"/>
          <p:cNvSpPr/>
          <p:nvPr/>
        </p:nvSpPr>
        <p:spPr>
          <a:xfrm>
            <a:off x="3534156" y="1417320"/>
            <a:ext cx="457200" cy="457200"/>
          </a:xfrm>
          <a:prstGeom prst="ellipse">
            <a:avLst/>
          </a:prstGeom>
          <a:solidFill>
            <a:srgbClr val="F28C2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884" y="15270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34156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std::queue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34156" y="25146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B34"/>
                </a:solidFill>
              </a:rPr>
              <a:t>Used by DeliveryQueue.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B34"/>
                </a:solidFill>
              </a:rPr>
              <a:t>Implements FIFO delivery-order processing.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62472" y="1188720"/>
            <a:ext cx="2624328" cy="333756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 badge"/>
          <p:cNvSpPr/>
          <p:nvPr/>
        </p:nvSpPr>
        <p:spPr>
          <a:xfrm>
            <a:off x="6336792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2704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36792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Algorithms &amp; Iterators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336792" y="25146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B34"/>
                </a:solidFill>
              </a:rPr>
              <a:t>std::sort sorts medicines by price.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B34"/>
                </a:solidFill>
              </a:rPr>
              <a:t>Iterators are used for traversal and element removal.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</a:rPr>
              <a:t>Exception Handling &amp; Validation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badge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Validation</a:t>
            </a:r>
            <a:endParaRPr lang="en-US" sz="2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84832"/>
            <a:ext cx="182880" cy="1828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Positive cart quantities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42032"/>
            <a:ext cx="182880" cy="1828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5156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Available medicine stock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99232"/>
            <a:ext cx="182880" cy="18288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5156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Valid order IDs for queue insertion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56432"/>
            <a:ext cx="182880" cy="18288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5156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Non-empty queue before processing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913632"/>
            <a:ext cx="182880" cy="18288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51560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Valid payment amount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663440" y="118872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0"/>
          <p:cNvSpPr txBox="1"/>
          <p:nvPr/>
        </p:nvSpPr>
        <p:spPr>
          <a:xfrm>
            <a:off x="493776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8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invalid_argument</a:t>
            </a:r>
            <a:endParaRPr lang="en-US" sz="1700" dirty="0"/>
          </a:p>
        </p:txBody>
      </p:sp>
      <p:sp>
        <p:nvSpPr>
          <p:cNvPr id="19" name="Text 11"/>
          <p:cNvSpPr txBox="1"/>
          <p:nvPr/>
        </p:nvSpPr>
        <p:spPr>
          <a:xfrm>
            <a:off x="4937760" y="1737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Invalid quantity or order ID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663440" y="265176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3"/>
          <p:cNvSpPr txBox="1"/>
          <p:nvPr/>
        </p:nvSpPr>
        <p:spPr>
          <a:xfrm>
            <a:off x="493776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8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runtime_error</a:t>
            </a:r>
            <a:endParaRPr lang="en-US" sz="1700" dirty="0"/>
          </a:p>
        </p:txBody>
      </p:sp>
      <p:sp>
        <p:nvSpPr>
          <p:cNvPr id="22" name="Text 14"/>
          <p:cNvSpPr txBox="1"/>
          <p:nvPr/>
        </p:nvSpPr>
        <p:spPr>
          <a:xfrm>
            <a:off x="4937760" y="3200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Insufficient stock, missing cart item or empty delivery queue</a:t>
            </a:r>
            <a:endParaRPr lang="en-US" sz="1400" dirty="0"/>
          </a:p>
        </p:txBody>
      </p:sp>
      <p:sp>
        <p:nvSpPr>
          <p:cNvPr id="23" name="Note"/>
          <p:cNvSpPr/>
          <p:nvPr/>
        </p:nvSpPr>
        <p:spPr>
          <a:xfrm>
            <a:off x="4663440" y="411480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0B3C49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4663440" y="4114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Invalid operations never continue silently.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</a:rPr>
              <a:t>File Handling &amp; Persistence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1499616" cy="178308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badge"/>
          <p:cNvSpPr/>
          <p:nvPr/>
        </p:nvSpPr>
        <p:spPr>
          <a:xfrm>
            <a:off x="978408" y="132588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4356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92024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medicines.txt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28600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Medicine inventory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207008" y="2971800"/>
            <a:ext cx="0" cy="320040"/>
          </a:xfrm>
          <a:prstGeom prst="line">
            <a:avLst/>
          </a:prstGeom>
          <a:noFill/>
          <a:ln w="19050">
            <a:solidFill>
              <a:srgbClr val="5B6F78"/>
            </a:solidFill>
            <a:prstDash val="solid"/>
            <a:headEnd type="triangle"/>
            <a:tailEnd type="triangle"/>
          </a:ln>
        </p:spPr>
      </p:sp>
      <p:sp>
        <p:nvSpPr>
          <p:cNvPr id="9" name="Card"/>
          <p:cNvSpPr/>
          <p:nvPr/>
        </p:nvSpPr>
        <p:spPr>
          <a:xfrm>
            <a:off x="2139696" y="1188720"/>
            <a:ext cx="1499616" cy="178308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con badge"/>
          <p:cNvSpPr/>
          <p:nvPr/>
        </p:nvSpPr>
        <p:spPr>
          <a:xfrm>
            <a:off x="2660904" y="132588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14356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39696" y="192024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customers.txt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139696" y="228600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Customer records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889504" y="2971800"/>
            <a:ext cx="0" cy="320040"/>
          </a:xfrm>
          <a:prstGeom prst="line">
            <a:avLst/>
          </a:prstGeom>
          <a:noFill/>
          <a:ln w="19050">
            <a:solidFill>
              <a:srgbClr val="5B6F78"/>
            </a:solidFill>
            <a:prstDash val="solid"/>
            <a:headEnd type="triangle"/>
            <a:tailEnd type="triangle"/>
          </a:ln>
        </p:spPr>
      </p:sp>
      <p:sp>
        <p:nvSpPr>
          <p:cNvPr id="15" name="Card"/>
          <p:cNvSpPr/>
          <p:nvPr/>
        </p:nvSpPr>
        <p:spPr>
          <a:xfrm>
            <a:off x="3822192" y="1188720"/>
            <a:ext cx="1499616" cy="178308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badge"/>
          <p:cNvSpPr/>
          <p:nvPr/>
        </p:nvSpPr>
        <p:spPr>
          <a:xfrm>
            <a:off x="4343400" y="132588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143560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822192" y="192024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orders.txt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3822192" y="228600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Order records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0" y="2971800"/>
            <a:ext cx="0" cy="320040"/>
          </a:xfrm>
          <a:prstGeom prst="line">
            <a:avLst/>
          </a:prstGeom>
          <a:noFill/>
          <a:ln w="19050">
            <a:solidFill>
              <a:srgbClr val="5B6F78"/>
            </a:solidFill>
            <a:prstDash val="solid"/>
            <a:headEnd type="triangle"/>
            <a:tailEnd type="triangle"/>
          </a:ln>
        </p:spPr>
      </p:sp>
      <p:sp>
        <p:nvSpPr>
          <p:cNvPr id="21" name="Card"/>
          <p:cNvSpPr/>
          <p:nvPr/>
        </p:nvSpPr>
        <p:spPr>
          <a:xfrm>
            <a:off x="5504688" y="1188720"/>
            <a:ext cx="1499616" cy="178308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Icon badge"/>
          <p:cNvSpPr/>
          <p:nvPr/>
        </p:nvSpPr>
        <p:spPr>
          <a:xfrm>
            <a:off x="6025896" y="132588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143560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04688" y="192024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payments.txt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504688" y="228600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Payment records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254496" y="2971800"/>
            <a:ext cx="0" cy="320040"/>
          </a:xfrm>
          <a:prstGeom prst="line">
            <a:avLst/>
          </a:prstGeom>
          <a:noFill/>
          <a:ln w="19050">
            <a:solidFill>
              <a:srgbClr val="5B6F78"/>
            </a:solidFill>
            <a:prstDash val="solid"/>
            <a:headEnd type="triangle"/>
            <a:tailEnd type="triangle"/>
          </a:ln>
        </p:spPr>
      </p:sp>
      <p:sp>
        <p:nvSpPr>
          <p:cNvPr id="27" name="Card"/>
          <p:cNvSpPr/>
          <p:nvPr/>
        </p:nvSpPr>
        <p:spPr>
          <a:xfrm>
            <a:off x="7187184" y="1188720"/>
            <a:ext cx="1499616" cy="178308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Icon badge"/>
          <p:cNvSpPr/>
          <p:nvPr/>
        </p:nvSpPr>
        <p:spPr>
          <a:xfrm>
            <a:off x="7708392" y="132588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435608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187184" y="192024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deliveries.txt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7187184" y="228600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F78"/>
                </a:solidFill>
              </a:rPr>
              <a:t>Delivery records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7936992" y="2971800"/>
            <a:ext cx="0" cy="320040"/>
          </a:xfrm>
          <a:prstGeom prst="line">
            <a:avLst/>
          </a:prstGeom>
          <a:noFill/>
          <a:ln w="19050">
            <a:solidFill>
              <a:srgbClr val="5B6F78"/>
            </a:solidFill>
            <a:prstDash val="solid"/>
            <a:headEnd type="triangle"/>
            <a:tailEnd type="triangle"/>
          </a:ln>
        </p:spPr>
      </p:sp>
      <p:sp>
        <p:nvSpPr>
          <p:cNvPr id="33" name="Card"/>
          <p:cNvSpPr/>
          <p:nvPr/>
        </p:nvSpPr>
        <p:spPr>
          <a:xfrm>
            <a:off x="457200" y="329184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0B3C49"/>
          </a:solidFill>
          <a:ln w="9525">
            <a:solidFill>
              <a:srgbClr val="0B3C4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Icon badge"/>
          <p:cNvSpPr/>
          <p:nvPr/>
        </p:nvSpPr>
        <p:spPr>
          <a:xfrm>
            <a:off x="777240" y="3611880"/>
            <a:ext cx="594360" cy="594360"/>
          </a:xfrm>
          <a:prstGeom prst="ellipse">
            <a:avLst/>
          </a:prstGeom>
          <a:solidFill>
            <a:srgbClr val="F28C28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" y="3754526"/>
            <a:ext cx="309067" cy="30906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64592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FileManager</a:t>
            </a:r>
            <a:endParaRPr lang="en-US" sz="2000" dirty="0"/>
          </a:p>
        </p:txBody>
      </p:sp>
      <p:sp>
        <p:nvSpPr>
          <p:cNvPr id="37" name="Text 29"/>
          <p:cNvSpPr txBox="1"/>
          <p:nvPr/>
        </p:nvSpPr>
        <p:spPr>
          <a:xfrm>
            <a:off x="1645920" y="38862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DE0"/>
                </a:solidFill>
              </a:rPr>
              <a:t>Centralizes file initialization, save/load operations and next-ID generation.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</a:rPr>
              <a:t>Linux Implementation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badge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Linux Development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1168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Developed and tested on Ubuntu Linux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Terminal used for compilation and execution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g++ builds the C++ application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Makefile provides repeatable compilation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Bash script supports deployment/build tasks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badge"/>
          <p:cNvSpPr/>
          <p:nvPr/>
        </p:nvSpPr>
        <p:spPr>
          <a:xfrm>
            <a:off x="4937760" y="1417320"/>
            <a:ext cx="457200" cy="457200"/>
          </a:xfrm>
          <a:prstGeom prst="ellipse">
            <a:avLst/>
          </a:prstGeom>
          <a:solidFill>
            <a:srgbClr val="F28C2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5270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Linux Concepts Applied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01168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Filesystem and permissions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Shell commands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Process execution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Build tools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Kernel/module interaction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Git workflow from the terminal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</a:rPr>
              <a:t>Linux Kernel Module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badge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Driver Component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F78"/>
                </a:solidFill>
              </a:rPr>
              <a:t>Location</a:t>
            </a:r>
            <a:endParaRPr lang="en-US" sz="1400" dirty="0"/>
          </a:p>
        </p:txBody>
      </p:sp>
      <p:sp>
        <p:nvSpPr>
          <p:cNvPr id="8" name="Code chip"/>
          <p:cNvSpPr/>
          <p:nvPr/>
        </p:nvSpPr>
        <p:spPr>
          <a:xfrm>
            <a:off x="731520" y="2331720"/>
            <a:ext cx="3474720" cy="365760"/>
          </a:xfrm>
          <a:prstGeom prst="roundRect">
            <a:avLst>
              <a:gd name="adj" fmla="val 20000"/>
            </a:avLst>
          </a:prstGeom>
          <a:solidFill>
            <a:srgbClr val="0B3C4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D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driver/medideliver_driver.c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8346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B34"/>
                </a:solidFill>
              </a:rPr>
              <a:t>driver/Makefile builds the kernel module separately from the C++ application.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The module demonstrates the kernel-space and module concepts required by the training.</a:t>
            </a:r>
            <a:endParaRPr lang="en-US" sz="1400" dirty="0"/>
          </a:p>
        </p:txBody>
      </p:sp>
      <p:sp>
        <p:nvSpPr>
          <p:cNvPr id="11" name="Stack box"/>
          <p:cNvSpPr/>
          <p:nvPr/>
        </p:nvSpPr>
        <p:spPr>
          <a:xfrm>
            <a:off x="4663440" y="11887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5B6F7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6344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User Space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675120" y="1645920"/>
            <a:ext cx="0" cy="246888"/>
          </a:xfrm>
          <a:prstGeom prst="line">
            <a:avLst/>
          </a:prstGeom>
          <a:noFill/>
          <a:ln w="25400">
            <a:solidFill>
              <a:srgbClr val="0B3C49"/>
            </a:solidFill>
            <a:prstDash val="solid"/>
            <a:tailEnd type="triangle"/>
          </a:ln>
        </p:spPr>
      </p:sp>
      <p:sp>
        <p:nvSpPr>
          <p:cNvPr id="14" name="Stack box"/>
          <p:cNvSpPr/>
          <p:nvPr/>
        </p:nvSpPr>
        <p:spPr>
          <a:xfrm>
            <a:off x="4663440" y="1892808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0F8B8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663440" y="1892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MediDeliver C++ application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675120" y="2350008"/>
            <a:ext cx="0" cy="246888"/>
          </a:xfrm>
          <a:prstGeom prst="line">
            <a:avLst/>
          </a:prstGeom>
          <a:noFill/>
          <a:ln w="25400">
            <a:solidFill>
              <a:srgbClr val="0B3C49"/>
            </a:solidFill>
            <a:prstDash val="solid"/>
            <a:tailEnd type="triangle"/>
          </a:ln>
        </p:spPr>
      </p:sp>
      <p:sp>
        <p:nvSpPr>
          <p:cNvPr id="17" name="Stack box"/>
          <p:cNvSpPr/>
          <p:nvPr/>
        </p:nvSpPr>
        <p:spPr>
          <a:xfrm>
            <a:off x="4663440" y="2596896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2E5E8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663440" y="25968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Linux operating system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675120" y="3054096"/>
            <a:ext cx="0" cy="246888"/>
          </a:xfrm>
          <a:prstGeom prst="line">
            <a:avLst/>
          </a:prstGeom>
          <a:noFill/>
          <a:ln w="25400">
            <a:solidFill>
              <a:srgbClr val="0B3C49"/>
            </a:solidFill>
            <a:prstDash val="solid"/>
            <a:tailEnd type="triangle"/>
          </a:ln>
        </p:spPr>
      </p:sp>
      <p:sp>
        <p:nvSpPr>
          <p:cNvPr id="20" name="Stack box"/>
          <p:cNvSpPr/>
          <p:nvPr/>
        </p:nvSpPr>
        <p:spPr>
          <a:xfrm>
            <a:off x="4663440" y="3300984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663440" y="33009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Kernel module / driver component</a:t>
            </a:r>
            <a:endParaRPr lang="en-US" sz="1500" dirty="0"/>
          </a:p>
        </p:txBody>
      </p:sp>
      <p:sp>
        <p:nvSpPr>
          <p:cNvPr id="22" name="Note"/>
          <p:cNvSpPr/>
          <p:nvPr/>
        </p:nvSpPr>
        <p:spPr>
          <a:xfrm>
            <a:off x="4663440" y="37490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DDF1E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800600" y="3749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3C49"/>
                </a:solidFill>
              </a:rPr>
              <a:t>The application stays a user-space console program; the driver is a separate module.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</a:rPr>
              <a:t>Complete Order Workflow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243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ep number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80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Select Customer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3259836" y="1188720"/>
            <a:ext cx="26243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tep number"/>
          <p:cNvSpPr/>
          <p:nvPr/>
        </p:nvSpPr>
        <p:spPr>
          <a:xfrm>
            <a:off x="3442716" y="1435608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2716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037076" y="1280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Search / View Medicine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062472" y="1188720"/>
            <a:ext cx="26243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tep number"/>
          <p:cNvSpPr/>
          <p:nvPr/>
        </p:nvSpPr>
        <p:spPr>
          <a:xfrm>
            <a:off x="6245352" y="1435608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4535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39712" y="1280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Add Medicine to Cart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457200" y="2331720"/>
            <a:ext cx="26243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tep number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View / Validate Cart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3259836" y="2331720"/>
            <a:ext cx="26243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tep number"/>
          <p:cNvSpPr/>
          <p:nvPr/>
        </p:nvSpPr>
        <p:spPr>
          <a:xfrm>
            <a:off x="3442716" y="2578608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42716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037076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Place Order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6062472" y="2331720"/>
            <a:ext cx="26243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tep number"/>
          <p:cNvSpPr/>
          <p:nvPr/>
        </p:nvSpPr>
        <p:spPr>
          <a:xfrm>
            <a:off x="6245352" y="2578608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45352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839712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Process Payment</a:t>
            </a:r>
            <a:endParaRPr lang="en-US" sz="1500" dirty="0"/>
          </a:p>
        </p:txBody>
      </p:sp>
      <p:sp>
        <p:nvSpPr>
          <p:cNvPr id="27" name="Card"/>
          <p:cNvSpPr/>
          <p:nvPr/>
        </p:nvSpPr>
        <p:spPr>
          <a:xfrm>
            <a:off x="457200" y="3474720"/>
            <a:ext cx="26243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tep number"/>
          <p:cNvSpPr/>
          <p:nvPr/>
        </p:nvSpPr>
        <p:spPr>
          <a:xfrm>
            <a:off x="640080" y="3721608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07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3566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Create Delivery</a:t>
            </a:r>
            <a:endParaRPr lang="en-US" sz="1500" dirty="0"/>
          </a:p>
        </p:txBody>
      </p:sp>
      <p:sp>
        <p:nvSpPr>
          <p:cNvPr id="31" name="Card"/>
          <p:cNvSpPr/>
          <p:nvPr/>
        </p:nvSpPr>
        <p:spPr>
          <a:xfrm>
            <a:off x="3259836" y="3474720"/>
            <a:ext cx="26243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tep number"/>
          <p:cNvSpPr/>
          <p:nvPr/>
        </p:nvSpPr>
        <p:spPr>
          <a:xfrm>
            <a:off x="3442716" y="3721608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442716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08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037076" y="3566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Save Records</a:t>
            </a:r>
            <a:endParaRPr lang="en-US" sz="1500" dirty="0"/>
          </a:p>
        </p:txBody>
      </p:sp>
      <p:sp>
        <p:nvSpPr>
          <p:cNvPr id="35" name="Card"/>
          <p:cNvSpPr/>
          <p:nvPr/>
        </p:nvSpPr>
        <p:spPr>
          <a:xfrm>
            <a:off x="6062472" y="3474720"/>
            <a:ext cx="2624328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tep number"/>
          <p:cNvSpPr/>
          <p:nvPr/>
        </p:nvSpPr>
        <p:spPr>
          <a:xfrm>
            <a:off x="6245352" y="3721608"/>
            <a:ext cx="457200" cy="457200"/>
          </a:xfrm>
          <a:prstGeom prst="ellipse">
            <a:avLst/>
          </a:prstGeom>
          <a:solidFill>
            <a:srgbClr val="F28C2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45352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09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39712" y="3566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Update Status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</a:rPr>
              <a:t>Testing &amp; Demonstration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badge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Functional Testing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1168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Customer selection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Medicine search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Cart add/remove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Stock validation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Order placement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Payment processing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Delivery creation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Order history and delivery records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badge"/>
          <p:cNvSpPr/>
          <p:nvPr/>
        </p:nvSpPr>
        <p:spPr>
          <a:xfrm>
            <a:off x="4937760" y="1417320"/>
            <a:ext cx="457200" cy="457200"/>
          </a:xfrm>
          <a:prstGeom prst="ellipse">
            <a:avLst/>
          </a:prstGeom>
          <a:solidFill>
            <a:srgbClr val="F28C2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5270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</a:rPr>
              <a:t>Persistence Testing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0116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A test order was created and the matching order, payment and delivery records were stored in the data files.</a:t>
            </a:r>
            <a:endParaRPr lang="en-US" sz="1400" dirty="0"/>
          </a:p>
        </p:txBody>
      </p:sp>
      <p:sp>
        <p:nvSpPr>
          <p:cNvPr id="13" name="Callout"/>
          <p:cNvSpPr/>
          <p:nvPr/>
        </p:nvSpPr>
        <p:spPr>
          <a:xfrm>
            <a:off x="4937760" y="329184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DDF1EE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074920" y="3291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3C49"/>
                </a:solidFill>
              </a:rPr>
              <a:t>The final project was committed and pushed to GitHub with README and source structure.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</a:rPr>
              <a:t>GitHub, Deliverables &amp; Future Scope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badge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F8B8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1333195"/>
            <a:ext cx="213970" cy="2139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34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</a:rPr>
              <a:t>Final Deliverables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C++ source and header files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Linux kernel module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Makefiles and deployment script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Persistent sample data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README documentation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Git history and GitHub repository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09728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1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badge"/>
          <p:cNvSpPr/>
          <p:nvPr/>
        </p:nvSpPr>
        <p:spPr>
          <a:xfrm>
            <a:off x="4937760" y="1234440"/>
            <a:ext cx="411480" cy="411480"/>
          </a:xfrm>
          <a:prstGeom prst="ellipse">
            <a:avLst/>
          </a:prstGeom>
          <a:solidFill>
            <a:srgbClr val="F28C2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515" y="1333195"/>
            <a:ext cx="213970" cy="21397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234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</a:rPr>
              <a:t>Future Enhancements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18288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Database-backed persistence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Authentication and authorization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Real payment gateway integration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Real-time delivery tracking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GUI or web interface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</a:rPr>
              <a:t>Expanded automated testing</a:t>
            </a:r>
            <a:endParaRPr lang="en-US" sz="1400" dirty="0"/>
          </a:p>
        </p:txBody>
      </p:sp>
      <p:sp>
        <p:nvSpPr>
          <p:cNvPr id="13" name="Closing band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0B3C4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Thank You  |  Questions &amp; Demonstration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Deliver">
  <a:themeElements>
    <a:clrScheme name="MediDeliver">
      <a:dk1>
        <a:srgbClr val="1B2B34"/>
      </a:dk1>
      <a:lt1>
        <a:srgbClr val="FFFFFF"/>
      </a:lt1>
      <a:dk2>
        <a:srgbClr val="0B3C49"/>
      </a:dk2>
      <a:lt2>
        <a:srgbClr val="F3F8F7"/>
      </a:lt2>
      <a:accent1>
        <a:srgbClr val="0F8B8D"/>
      </a:accent1>
      <a:accent2>
        <a:srgbClr val="F28C28"/>
      </a:accent2>
      <a:accent3>
        <a:srgbClr val="2E5E8C"/>
      </a:accent3>
      <a:accent4>
        <a:srgbClr val="6BBF9A"/>
      </a:accent4>
      <a:accent5>
        <a:srgbClr val="D1495B"/>
      </a:accent5>
      <a:accent6>
        <a:srgbClr val="5B6F78"/>
      </a:accent6>
      <a:hlink>
        <a:srgbClr val="0F8B8D"/>
      </a:hlink>
      <a:folHlink>
        <a:srgbClr val="5B6F78"/>
      </a:folHlink>
    </a:clrScheme>
    <a:fontScheme name="MediDeliv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MediDeliver - Project Presentation</dc:title>
  <dc:subject>PptxGenJS Presentation</dc:subject>
  <dc:creator>PptxGenJS</dc:creator>
  <cp:lastModifiedBy>PptxGenJS</cp:lastModifiedBy>
  <cp:revision>1</cp:revision>
  <dcterms:created xsi:type="dcterms:W3CDTF">2026-10-04T14:22:50Z</dcterms:created>
  <dcterms:modified xsi:type="dcterms:W3CDTF">2026-10-04T14:22:50Z</dcterms:modified>
</cp:coreProperties>
</file>